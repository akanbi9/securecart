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" cy="411480"/>
          </a:xfrm>
          <a:prstGeom prst="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1148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26D7C9"/>
                </a:solidFill>
                <a:latin typeface="Aptos"/>
              </a:defRPr>
            </a:pPr>
            <a:r>
              <a:t>CYBERSECURITY CAPSTONE  /  PROJECT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3100" b="1">
                <a:solidFill>
                  <a:srgbClr val="EFF7FB"/>
                </a:solidFill>
                <a:latin typeface="Aptos"/>
              </a:defRPr>
            </a:pPr>
            <a:r>
              <a:t>SecureCart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354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9DB4C6"/>
                </a:solidFill>
                <a:latin typeface="Aptos"/>
              </a:defRPr>
            </a:pPr>
            <a:r>
              <a:t>SECURECART  •  OWASP WEB &amp; API SECURITY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3737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26D7C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100584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2900" b="1">
                <a:solidFill>
                  <a:srgbClr val="EFF7FB"/>
                </a:solidFill>
                <a:latin typeface="Aptos"/>
              </a:defRPr>
            </a:pPr>
            <a:r>
              <a:t>Web Application &amp; REST API</a:t>
            </a:r>
          </a:p>
          <a:p>
            <a:pPr algn="l">
              <a:spcAft>
                <a:spcPts val="1200"/>
              </a:spcAft>
              <a:defRPr sz="2900" b="1">
                <a:solidFill>
                  <a:srgbClr val="EFF7FB"/>
                </a:solidFill>
                <a:latin typeface="Aptos"/>
              </a:defRPr>
            </a:pPr>
            <a:r>
              <a:t>Security Assessment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10561320" cy="1051560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224528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2200" b="1">
                <a:solidFill>
                  <a:srgbClr val="26D7C9"/>
                </a:solidFill>
                <a:latin typeface="Aptos"/>
              </a:defRPr>
            </a:pPr>
            <a:r>
              <a:t>Flask  •  SQLite  •  OWASP  •  Pytest  •  GitHub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568756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500" b="0">
                <a:solidFill>
                  <a:srgbClr val="9DB4C6"/>
                </a:solidFill>
                <a:latin typeface="Aptos"/>
              </a:defRPr>
            </a:pPr>
            <a:r>
              <a:t>Repository: github.com/akanbi9/SecureCart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" cy="411480"/>
          </a:xfrm>
          <a:prstGeom prst="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1148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26D7C9"/>
                </a:solidFill>
                <a:latin typeface="Aptos"/>
              </a:defRPr>
            </a:pPr>
            <a:r>
              <a:t>SECURECART  /  SECURITY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3100" b="1">
                <a:solidFill>
                  <a:srgbClr val="EFF7FB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354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9DB4C6"/>
                </a:solidFill>
                <a:latin typeface="Aptos"/>
              </a:defRPr>
            </a:pPr>
            <a:r>
              <a:t>SECURECART  •  OWASP WEB &amp; API SECURITY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3737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26D7C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48256"/>
            <a:ext cx="100584" cy="100584"/>
          </a:xfrm>
          <a:prstGeom prst="round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1938528"/>
            <a:ext cx="10149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2100" b="0">
                <a:solidFill>
                  <a:srgbClr val="EFF7FB"/>
                </a:solidFill>
                <a:latin typeface="Aptos"/>
              </a:defRPr>
            </a:pPr>
            <a:r>
              <a:t>A small e-commerce application with a browser interface and JSON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807208"/>
            <a:ext cx="100584" cy="100584"/>
          </a:xfrm>
          <a:prstGeom prst="round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697480"/>
            <a:ext cx="10149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2100" b="0">
                <a:solidFill>
                  <a:srgbClr val="EFF7FB"/>
                </a:solidFill>
                <a:latin typeface="Aptos"/>
              </a:defRPr>
            </a:pPr>
            <a:r>
              <a:t>Customer, support and administrator roles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566160"/>
            <a:ext cx="100584" cy="100584"/>
          </a:xfrm>
          <a:prstGeom prst="round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456432"/>
            <a:ext cx="10149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2100" b="0">
                <a:solidFill>
                  <a:srgbClr val="EFF7FB"/>
                </a:solidFill>
                <a:latin typeface="Aptos"/>
              </a:defRPr>
            </a:pPr>
            <a:r>
              <a:t>Product browsing, profiles, orders, coupons and stock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325112"/>
            <a:ext cx="100584" cy="100584"/>
          </a:xfrm>
          <a:prstGeom prst="round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215383"/>
            <a:ext cx="10149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2100" b="0">
                <a:solidFill>
                  <a:srgbClr val="EFF7FB"/>
                </a:solidFill>
                <a:latin typeface="Aptos"/>
              </a:defRPr>
            </a:pPr>
            <a:r>
              <a:t>Mock supplier and payment-notification integrations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084064"/>
            <a:ext cx="100584" cy="100584"/>
          </a:xfrm>
          <a:prstGeom prst="round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4974336"/>
            <a:ext cx="10149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2100" b="0">
                <a:solidFill>
                  <a:srgbClr val="EFF7FB"/>
                </a:solidFill>
                <a:latin typeface="Aptos"/>
              </a:defRPr>
            </a:pPr>
            <a:r>
              <a:t>SQLite database with a Flask backend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" cy="411480"/>
          </a:xfrm>
          <a:prstGeom prst="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1148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26D7C9"/>
                </a:solidFill>
                <a:latin typeface="Aptos"/>
              </a:defRPr>
            </a:pPr>
            <a:r>
              <a:t>SECURECART  /  SECURITY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3100" b="1">
                <a:solidFill>
                  <a:srgbClr val="EFF7FB"/>
                </a:solidFill>
                <a:latin typeface="Aptos"/>
              </a:defRPr>
            </a:pPr>
            <a:r>
              <a:t>Objectives &amp; assessment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354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9DB4C6"/>
                </a:solidFill>
                <a:latin typeface="Aptos"/>
              </a:defRPr>
            </a:pPr>
            <a:r>
              <a:t>SECURECART  •  OWASP WEB &amp; API SECURITY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3737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26D7C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56231"/>
            <a:ext cx="5212080" cy="3886200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103120"/>
            <a:ext cx="50292" cy="292608"/>
          </a:xfrm>
          <a:prstGeom prst="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075687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900" b="1">
                <a:solidFill>
                  <a:srgbClr val="EFF7FB"/>
                </a:solidFill>
                <a:latin typeface="Aptos"/>
              </a:defRPr>
            </a:pPr>
            <a:r>
              <a:t>What I set out to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660903"/>
            <a:ext cx="4709160" cy="297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2000" b="0">
                <a:solidFill>
                  <a:srgbClr val="9DB4C6"/>
                </a:solidFill>
                <a:latin typeface="Aptos"/>
              </a:defRPr>
            </a:pPr>
            <a:r>
              <a:t>Identify security weaknesses</a:t>
            </a:r>
          </a:p>
          <a:p>
            <a:pPr algn="l">
              <a:spcAft>
                <a:spcPts val="1200"/>
              </a:spcAft>
              <a:defRPr sz="2000" b="0">
                <a:solidFill>
                  <a:srgbClr val="9DB4C6"/>
                </a:solidFill>
                <a:latin typeface="Aptos"/>
              </a:defRPr>
            </a:pPr>
            <a:r>
              <a:t>Reproduce selected issues</a:t>
            </a:r>
          </a:p>
          <a:p>
            <a:pPr algn="l">
              <a:spcAft>
                <a:spcPts val="1200"/>
              </a:spcAft>
              <a:defRPr sz="2000" b="0">
                <a:solidFill>
                  <a:srgbClr val="9DB4C6"/>
                </a:solidFill>
                <a:latin typeface="Aptos"/>
              </a:defRPr>
            </a:pPr>
            <a:r>
              <a:t>Implement defensive fixes</a:t>
            </a:r>
          </a:p>
          <a:p>
            <a:pPr algn="l">
              <a:spcAft>
                <a:spcPts val="1200"/>
              </a:spcAft>
              <a:defRPr sz="2000" b="0">
                <a:solidFill>
                  <a:srgbClr val="9DB4C6"/>
                </a:solidFill>
                <a:latin typeface="Aptos"/>
              </a:defRPr>
            </a:pPr>
            <a:r>
              <a:t>Verify fixes with repeatable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56231"/>
            <a:ext cx="5257800" cy="3886200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103120"/>
            <a:ext cx="50292" cy="292608"/>
          </a:xfrm>
          <a:prstGeom prst="rect">
            <a:avLst/>
          </a:prstGeom>
          <a:solidFill>
            <a:srgbClr val="FFC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75687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900" b="1">
                <a:solidFill>
                  <a:srgbClr val="EFF7FB"/>
                </a:solidFill>
                <a:latin typeface="Aptos"/>
              </a:defRPr>
            </a:pPr>
            <a:r>
              <a:t>Assessment boundaries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660903"/>
            <a:ext cx="4754880" cy="297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2000" b="0">
                <a:solidFill>
                  <a:srgbClr val="9DB4C6"/>
                </a:solidFill>
                <a:latin typeface="Aptos"/>
              </a:defRPr>
            </a:pPr>
            <a:r>
              <a:t>Authorized local test environment</a:t>
            </a:r>
          </a:p>
          <a:p>
            <a:pPr algn="l">
              <a:spcAft>
                <a:spcPts val="1200"/>
              </a:spcAft>
              <a:defRPr sz="2000" b="0">
                <a:solidFill>
                  <a:srgbClr val="9DB4C6"/>
                </a:solidFill>
                <a:latin typeface="Aptos"/>
              </a:defRPr>
            </a:pPr>
            <a:r>
              <a:t>OWASP Web Top 10 (2021)</a:t>
            </a:r>
          </a:p>
          <a:p>
            <a:pPr algn="l">
              <a:spcAft>
                <a:spcPts val="1200"/>
              </a:spcAft>
              <a:defRPr sz="2000" b="0">
                <a:solidFill>
                  <a:srgbClr val="9DB4C6"/>
                </a:solidFill>
                <a:latin typeface="Aptos"/>
              </a:defRPr>
            </a:pPr>
            <a:r>
              <a:t>OWASP API Top 10 (2023)</a:t>
            </a:r>
          </a:p>
          <a:p>
            <a:pPr algn="l">
              <a:spcAft>
                <a:spcPts val="1200"/>
              </a:spcAft>
              <a:defRPr sz="2000" b="0">
                <a:solidFill>
                  <a:srgbClr val="9DB4C6"/>
                </a:solidFill>
                <a:latin typeface="Aptos"/>
              </a:defRPr>
            </a:pPr>
            <a:r>
              <a:t>Not a full production penetration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" cy="411480"/>
          </a:xfrm>
          <a:prstGeom prst="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1148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26D7C9"/>
                </a:solidFill>
                <a:latin typeface="Aptos"/>
              </a:defRPr>
            </a:pPr>
            <a:r>
              <a:t>SECURECART  /  SECURITY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3100" b="1">
                <a:solidFill>
                  <a:srgbClr val="EFF7FB"/>
                </a:solidFill>
                <a:latin typeface="Aptos"/>
              </a:defRPr>
            </a:pPr>
            <a:r>
              <a:t>Architecture &amp;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354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9DB4C6"/>
                </a:solidFill>
                <a:latin typeface="Aptos"/>
              </a:defRPr>
            </a:pPr>
            <a:r>
              <a:t>SECURECART  •  OWASP WEB &amp; API SECURITY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3737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26D7C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40280"/>
            <a:ext cx="2240280" cy="1463040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578608"/>
            <a:ext cx="1911096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1900" b="1">
                <a:solidFill>
                  <a:srgbClr val="EFF7FB"/>
                </a:solidFill>
                <a:latin typeface="Aptos"/>
              </a:defRPr>
            </a:pPr>
            <a:r>
              <a:t>Browser / API</a:t>
            </a:r>
          </a:p>
          <a:p>
            <a:pPr algn="ctr">
              <a:spcAft>
                <a:spcPts val="1200"/>
              </a:spcAft>
              <a:defRPr sz="1900" b="1">
                <a:solidFill>
                  <a:srgbClr val="EFF7FB"/>
                </a:solidFill>
                <a:latin typeface="Aptos"/>
              </a:defRPr>
            </a:pPr>
            <a:r>
              <a:t>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94176" y="2240280"/>
            <a:ext cx="2286000" cy="1463040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8768" y="2578608"/>
            <a:ext cx="1956816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1900" b="1">
                <a:solidFill>
                  <a:srgbClr val="EFF7FB"/>
                </a:solidFill>
                <a:latin typeface="Aptos"/>
              </a:defRPr>
            </a:pPr>
            <a:r>
              <a:t>Flask routes</a:t>
            </a:r>
          </a:p>
          <a:p>
            <a:pPr algn="ctr">
              <a:spcAft>
                <a:spcPts val="1200"/>
              </a:spcAft>
              <a:defRPr sz="1900" b="1">
                <a:solidFill>
                  <a:srgbClr val="EFF7FB"/>
                </a:solidFill>
                <a:latin typeface="Aptos"/>
              </a:defRPr>
            </a:pPr>
            <a:r>
              <a:t>&amp; authorization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0256" y="2240280"/>
            <a:ext cx="2286000" cy="1463040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2578608"/>
            <a:ext cx="1956816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1900" b="1">
                <a:solidFill>
                  <a:srgbClr val="EFF7FB"/>
                </a:solidFill>
                <a:latin typeface="Aptos"/>
              </a:defRPr>
            </a:pPr>
            <a:r>
              <a:t>Business rules</a:t>
            </a:r>
          </a:p>
          <a:p>
            <a:pPr algn="ctr">
              <a:spcAft>
                <a:spcPts val="1200"/>
              </a:spcAft>
              <a:defRPr sz="1900" b="1">
                <a:solidFill>
                  <a:srgbClr val="EFF7FB"/>
                </a:solidFill>
                <a:latin typeface="Aptos"/>
              </a:defRPr>
            </a:pPr>
            <a:r>
              <a:t>&amp;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37192" y="2240280"/>
            <a:ext cx="1828800" cy="1463040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01784" y="2578608"/>
            <a:ext cx="1499616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1900" b="1">
                <a:solidFill>
                  <a:srgbClr val="EFF7FB"/>
                </a:solidFill>
                <a:latin typeface="Aptos"/>
              </a:defRPr>
            </a:pPr>
            <a:r>
              <a:t>SQLite</a:t>
            </a:r>
          </a:p>
          <a:p>
            <a:pPr algn="ctr">
              <a:spcAft>
                <a:spcPts val="1200"/>
              </a:spcAft>
              <a:defRPr sz="1900" b="1">
                <a:solidFill>
                  <a:srgbClr val="EFF7FB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3824" y="2688336"/>
            <a:ext cx="502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2800" b="1">
                <a:solidFill>
                  <a:srgbClr val="26D7C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1616" y="2688336"/>
            <a:ext cx="502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2800" b="1">
                <a:solidFill>
                  <a:srgbClr val="26D7C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5984" y="2688336"/>
            <a:ext cx="502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2800" b="1">
                <a:solidFill>
                  <a:srgbClr val="26D7C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4407408"/>
            <a:ext cx="5029200" cy="1024128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5" y="4681728"/>
            <a:ext cx="4617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FFC35E"/>
                </a:solidFill>
                <a:latin typeface="Aptos"/>
              </a:defRPr>
            </a:pPr>
            <a:r>
              <a:t>Mock payment / supplier integrations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46634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300" b="0">
                <a:solidFill>
                  <a:srgbClr val="9DB4C6"/>
                </a:solidFill>
                <a:latin typeface="Aptos"/>
              </a:defRPr>
            </a:pPr>
            <a:r>
              <a:t>↑ trust boundary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" cy="411480"/>
          </a:xfrm>
          <a:prstGeom prst="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1148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26D7C9"/>
                </a:solidFill>
                <a:latin typeface="Aptos"/>
              </a:defRPr>
            </a:pPr>
            <a:r>
              <a:t>SECURECART  /  SECURITY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3100" b="1">
                <a:solidFill>
                  <a:srgbClr val="EFF7FB"/>
                </a:solidFill>
                <a:latin typeface="Aptos"/>
              </a:defRPr>
            </a:pPr>
            <a:r>
              <a:t>Eight documented security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354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9DB4C6"/>
                </a:solidFill>
                <a:latin typeface="Aptos"/>
              </a:defRPr>
            </a:pPr>
            <a:r>
              <a:t>SECURECART  •  OWASP WEB &amp; API SECURITY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3737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26D7C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10512"/>
            <a:ext cx="5212080" cy="877824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993392"/>
            <a:ext cx="8778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700" b="1">
                <a:solidFill>
                  <a:srgbClr val="26D7C9"/>
                </a:solidFill>
                <a:latin typeface="Aptos"/>
              </a:defRPr>
            </a:pPr>
            <a:r>
              <a:t>SC-001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7" y="1993392"/>
            <a:ext cx="38862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700" b="0">
                <a:solidFill>
                  <a:srgbClr val="EFF7FB"/>
                </a:solidFill>
                <a:latin typeface="Aptos"/>
              </a:defRPr>
            </a:pPr>
            <a:r>
              <a:t>Hardcoded session secret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810512"/>
            <a:ext cx="5212080" cy="877824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993392"/>
            <a:ext cx="8778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700" b="1">
                <a:solidFill>
                  <a:srgbClr val="26D7C9"/>
                </a:solidFill>
                <a:latin typeface="Aptos"/>
              </a:defRPr>
            </a:pPr>
            <a:r>
              <a:t>SC-002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15783" y="1993392"/>
            <a:ext cx="38862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700" b="0">
                <a:solidFill>
                  <a:srgbClr val="EFF7FB"/>
                </a:solidFill>
                <a:latin typeface="Aptos"/>
              </a:defRPr>
            </a:pPr>
            <a:r>
              <a:t>Debug mode enabled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871215"/>
            <a:ext cx="5212080" cy="877824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054096"/>
            <a:ext cx="8778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700" b="1">
                <a:solidFill>
                  <a:srgbClr val="26D7C9"/>
                </a:solidFill>
                <a:latin typeface="Aptos"/>
              </a:defRPr>
            </a:pPr>
            <a:r>
              <a:t>SC-003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2807" y="3054096"/>
            <a:ext cx="38862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700" b="0">
                <a:solidFill>
                  <a:srgbClr val="EFF7FB"/>
                </a:solidFill>
                <a:latin typeface="Aptos"/>
              </a:defRPr>
            </a:pPr>
            <a:r>
              <a:t>Boolean quantity accepted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2871215"/>
            <a:ext cx="5212080" cy="877824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054096"/>
            <a:ext cx="8778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700" b="1">
                <a:solidFill>
                  <a:srgbClr val="26D7C9"/>
                </a:solidFill>
                <a:latin typeface="Aptos"/>
              </a:defRPr>
            </a:pPr>
            <a:r>
              <a:t>SC-004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15783" y="3054096"/>
            <a:ext cx="38862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700" b="0">
                <a:solidFill>
                  <a:srgbClr val="EFF7FB"/>
                </a:solidFill>
                <a:latin typeface="Aptos"/>
              </a:defRPr>
            </a:pPr>
            <a:r>
              <a:t>No login rate limiting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931920"/>
            <a:ext cx="5212080" cy="877824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114800"/>
            <a:ext cx="8778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700" b="1">
                <a:solidFill>
                  <a:srgbClr val="26D7C9"/>
                </a:solidFill>
                <a:latin typeface="Aptos"/>
              </a:defRPr>
            </a:pPr>
            <a:r>
              <a:t>SC-005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2807" y="4114800"/>
            <a:ext cx="38862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700" b="0">
                <a:solidFill>
                  <a:srgbClr val="EFF7FB"/>
                </a:solidFill>
                <a:latin typeface="Aptos"/>
              </a:defRPr>
            </a:pPr>
            <a:r>
              <a:t>Hardcoded webhook secret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2784" y="3931920"/>
            <a:ext cx="5212080" cy="877824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4114800"/>
            <a:ext cx="8778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700" b="1">
                <a:solidFill>
                  <a:srgbClr val="26D7C9"/>
                </a:solidFill>
                <a:latin typeface="Aptos"/>
              </a:defRPr>
            </a:pPr>
            <a:r>
              <a:t>SC-006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5783" y="4114800"/>
            <a:ext cx="38862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700" b="0">
                <a:solidFill>
                  <a:srgbClr val="EFF7FB"/>
                </a:solidFill>
                <a:latin typeface="Aptos"/>
              </a:defRPr>
            </a:pPr>
            <a:r>
              <a:t>Invalid payment state change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992623"/>
            <a:ext cx="5212080" cy="877824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5175503"/>
            <a:ext cx="8778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700" b="1">
                <a:solidFill>
                  <a:srgbClr val="26D7C9"/>
                </a:solidFill>
                <a:latin typeface="Aptos"/>
              </a:defRPr>
            </a:pPr>
            <a:r>
              <a:t>SC-007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92807" y="5175503"/>
            <a:ext cx="38862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700" b="0">
                <a:solidFill>
                  <a:srgbClr val="EFF7FB"/>
                </a:solidFill>
                <a:latin typeface="Aptos"/>
              </a:defRPr>
            </a:pPr>
            <a:r>
              <a:t>Coupon after payment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72784" y="4992623"/>
            <a:ext cx="5212080" cy="877824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5175503"/>
            <a:ext cx="8778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700" b="1">
                <a:solidFill>
                  <a:srgbClr val="26D7C9"/>
                </a:solidFill>
                <a:latin typeface="Aptos"/>
              </a:defRPr>
            </a:pPr>
            <a:r>
              <a:t>SC-008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15783" y="5175503"/>
            <a:ext cx="38862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700" b="0">
                <a:solidFill>
                  <a:srgbClr val="EFF7FB"/>
                </a:solidFill>
                <a:latin typeface="Aptos"/>
              </a:defRPr>
            </a:pPr>
            <a:r>
              <a:t>Stock not deducted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" cy="411480"/>
          </a:xfrm>
          <a:prstGeom prst="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1148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26D7C9"/>
                </a:solidFill>
                <a:latin typeface="Aptos"/>
              </a:defRPr>
            </a:pPr>
            <a:r>
              <a:t>SECURECART  /  SECURITY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3100" b="1">
                <a:solidFill>
                  <a:srgbClr val="EFF7FB"/>
                </a:solidFill>
                <a:latin typeface="Aptos"/>
              </a:defRPr>
            </a:pPr>
            <a:r>
              <a:t>Fixes: configuration &amp; authentication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354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9DB4C6"/>
                </a:solidFill>
                <a:latin typeface="Aptos"/>
              </a:defRPr>
            </a:pPr>
            <a:r>
              <a:t>SECURECART  •  OWASP WEB &amp; API SECURITY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3737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26D7C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493008" cy="3913632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075688"/>
            <a:ext cx="50292" cy="292608"/>
          </a:xfrm>
          <a:prstGeom prst="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048256"/>
            <a:ext cx="289864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900" b="1">
                <a:solidFill>
                  <a:srgbClr val="EFF7FB"/>
                </a:solidFill>
                <a:latin typeface="Aptos"/>
              </a:defRPr>
            </a:pPr>
            <a:r>
              <a:t>Secrets &amp; debug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633472"/>
            <a:ext cx="2990087" cy="2999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  <a:r>
              <a:t>Moved Flask session secret into environment configuration.</a:t>
            </a:r>
          </a:p>
          <a:p>
            <a:pPr algn="l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</a:p>
          <a:p>
            <a:pPr algn="l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  <a:r>
              <a:t>Disabled debug mode.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828800"/>
            <a:ext cx="3493008" cy="3913632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5424" y="2075688"/>
            <a:ext cx="50292" cy="292608"/>
          </a:xfrm>
          <a:prstGeom prst="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2048256"/>
            <a:ext cx="289864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900" b="1">
                <a:solidFill>
                  <a:srgbClr val="EFF7FB"/>
                </a:solidFill>
                <a:latin typeface="Aptos"/>
              </a:defRPr>
            </a:pPr>
            <a:r>
              <a:t>Input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633472"/>
            <a:ext cx="2990087" cy="2999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  <a:r>
              <a:t>Rejected JSON booleans as order quantities.</a:t>
            </a:r>
          </a:p>
          <a:p>
            <a:pPr algn="l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</a:p>
          <a:p>
            <a:pPr algn="l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  <a:r>
              <a:t>Required valid positive integers.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1828800"/>
            <a:ext cx="3493008" cy="3913632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6448" y="2075688"/>
            <a:ext cx="50292" cy="292608"/>
          </a:xfrm>
          <a:prstGeom prst="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048256"/>
            <a:ext cx="289864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900" b="1">
                <a:solidFill>
                  <a:srgbClr val="EFF7FB"/>
                </a:solidFill>
                <a:latin typeface="Aptos"/>
              </a:defRPr>
            </a:pPr>
            <a:r>
              <a:t>Login defense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33472"/>
            <a:ext cx="2990087" cy="2999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  <a:r>
              <a:t>Added username-based failed-login limit.</a:t>
            </a:r>
          </a:p>
          <a:p>
            <a:pPr algn="l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</a:p>
          <a:p>
            <a:pPr algn="l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  <a:r>
              <a:t>Returns HTTP 429 after threshold.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" cy="411480"/>
          </a:xfrm>
          <a:prstGeom prst="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1148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26D7C9"/>
                </a:solidFill>
                <a:latin typeface="Aptos"/>
              </a:defRPr>
            </a:pPr>
            <a:r>
              <a:t>SECURECART  /  SECURITY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3100" b="1">
                <a:solidFill>
                  <a:srgbClr val="EFF7FB"/>
                </a:solidFill>
                <a:latin typeface="Aptos"/>
              </a:defRPr>
            </a:pPr>
            <a:r>
              <a:t>Fixes: payments, coupons &amp; inventory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354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9DB4C6"/>
                </a:solidFill>
                <a:latin typeface="Aptos"/>
              </a:defRPr>
            </a:pPr>
            <a:r>
              <a:t>SECURECART  •  OWASP WEB &amp; API SECURITY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3737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26D7C9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230368" cy="4005072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075688"/>
            <a:ext cx="50292" cy="292608"/>
          </a:xfrm>
          <a:prstGeom prst="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048256"/>
            <a:ext cx="4636007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900" b="1">
                <a:solidFill>
                  <a:srgbClr val="EFF7FB"/>
                </a:solidFill>
                <a:latin typeface="Aptos"/>
              </a:defRPr>
            </a:pPr>
            <a:r>
              <a:t>Payment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633472"/>
            <a:ext cx="4727448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  <a:r>
              <a:t>Rotated hardcoded webhook secret into an environment variable.</a:t>
            </a:r>
          </a:p>
          <a:p>
            <a:pPr algn="l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</a:p>
          <a:p>
            <a:pPr algn="l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  <a:r>
              <a:t>Rejected conflicting paid → failed transitions (HTTP 409).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28800"/>
            <a:ext cx="5266944" cy="4005072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075688"/>
            <a:ext cx="50292" cy="292608"/>
          </a:xfrm>
          <a:prstGeom prst="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48256"/>
            <a:ext cx="467258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900" b="1">
                <a:solidFill>
                  <a:srgbClr val="EFF7FB"/>
                </a:solidFill>
                <a:latin typeface="Aptos"/>
              </a:defRPr>
            </a:pPr>
            <a:r>
              <a:t>Business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633472"/>
            <a:ext cx="4764024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  <a:r>
              <a:t>Coupons only on pending orders.</a:t>
            </a:r>
          </a:p>
          <a:p>
            <a:pPr algn="l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</a:p>
          <a:p>
            <a:pPr algn="l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  <a:r>
              <a:t>Atomic stock deduction in the order transaction to prevent overselling.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" cy="411480"/>
          </a:xfrm>
          <a:prstGeom prst="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1148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26D7C9"/>
                </a:solidFill>
                <a:latin typeface="Aptos"/>
              </a:defRPr>
            </a:pPr>
            <a:r>
              <a:t>SECURECART  /  SECURITY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3100" b="1">
                <a:solidFill>
                  <a:srgbClr val="EFF7FB"/>
                </a:solidFill>
                <a:latin typeface="Aptos"/>
              </a:defRPr>
            </a:pPr>
            <a:r>
              <a:t>Automated security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354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9DB4C6"/>
                </a:solidFill>
                <a:latin typeface="Aptos"/>
              </a:defRPr>
            </a:pPr>
            <a:r>
              <a:t>SECURECART  •  OWASP WEB &amp; API SECURITY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3737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26D7C9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3749039" cy="3621024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4500" b="1">
                <a:solidFill>
                  <a:srgbClr val="26D7C9"/>
                </a:solidFill>
                <a:latin typeface="Aptos"/>
              </a:defRPr>
            </a:pPr>
            <a:r>
              <a:t>27 / 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2724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2400" b="1">
                <a:solidFill>
                  <a:srgbClr val="EFF7FB"/>
                </a:solidFill>
                <a:latin typeface="Aptos"/>
              </a:defRPr>
            </a:pPr>
            <a:r>
              <a:t>tests passed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  <a:r>
              <a:t>0 failures</a:t>
            </a:r>
          </a:p>
          <a:p>
            <a:pPr algn="ctr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  <a:r>
              <a:t>49.21 seconds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36592" y="1828800"/>
            <a:ext cx="6702552" cy="3621024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19472" y="2075688"/>
            <a:ext cx="50292" cy="292608"/>
          </a:xfrm>
          <a:prstGeom prst="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4064" y="2048256"/>
            <a:ext cx="610819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900" b="1">
                <a:solidFill>
                  <a:srgbClr val="EFF7FB"/>
                </a:solidFill>
                <a:latin typeface="Aptos"/>
              </a:defRPr>
            </a:pPr>
            <a:r>
              <a:t>Security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2633472"/>
            <a:ext cx="6199632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2000" b="0">
                <a:solidFill>
                  <a:srgbClr val="9DB4C6"/>
                </a:solidFill>
                <a:latin typeface="Aptos"/>
              </a:defRPr>
            </a:pPr>
            <a:r>
              <a:t>Authentication 4  •  Authorization 3</a:t>
            </a:r>
          </a:p>
          <a:p>
            <a:pPr algn="l">
              <a:spcAft>
                <a:spcPts val="1200"/>
              </a:spcAft>
              <a:defRPr sz="2000" b="0">
                <a:solidFill>
                  <a:srgbClr val="9DB4C6"/>
                </a:solidFill>
                <a:latin typeface="Aptos"/>
              </a:defRPr>
            </a:pPr>
            <a:r>
              <a:t>Coupons 3  •  Orders &amp; stock 10</a:t>
            </a:r>
          </a:p>
          <a:p>
            <a:pPr algn="l">
              <a:spcAft>
                <a:spcPts val="1200"/>
              </a:spcAft>
              <a:defRPr sz="2000" b="0">
                <a:solidFill>
                  <a:srgbClr val="9DB4C6"/>
                </a:solidFill>
                <a:latin typeface="Aptos"/>
              </a:defRPr>
            </a:pPr>
            <a:r>
              <a:t>Payment notifications 5  •  Profiles &amp; roles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" cy="411480"/>
          </a:xfrm>
          <a:prstGeom prst="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1148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26D7C9"/>
                </a:solidFill>
                <a:latin typeface="Aptos"/>
              </a:defRPr>
            </a:pPr>
            <a:r>
              <a:t>SECURECART  /  SECURITY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3100" b="1">
                <a:solidFill>
                  <a:srgbClr val="EFF7FB"/>
                </a:solidFill>
                <a:latin typeface="Aptos"/>
              </a:defRPr>
            </a:pPr>
            <a:r>
              <a:t>Continuous integration &amp; dependency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354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9DB4C6"/>
                </a:solidFill>
                <a:latin typeface="Aptos"/>
              </a:defRPr>
            </a:pPr>
            <a:r>
              <a:t>SECURECART  •  OWASP WEB &amp; API SECURITY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3737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26D7C9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56231"/>
            <a:ext cx="5230368" cy="3877056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103120"/>
            <a:ext cx="50292" cy="292608"/>
          </a:xfrm>
          <a:prstGeom prst="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075687"/>
            <a:ext cx="4636007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900" b="1">
                <a:solidFill>
                  <a:srgbClr val="EFF7FB"/>
                </a:solidFill>
                <a:latin typeface="Aptos"/>
              </a:defRPr>
            </a:pPr>
            <a:r>
              <a:t>GitHub Actions 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660903"/>
            <a:ext cx="4727448" cy="2962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  <a:r>
              <a:t>Automated security tests run on GitHub after code changes.</a:t>
            </a:r>
          </a:p>
          <a:p>
            <a:pPr algn="l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</a:p>
          <a:p>
            <a:pPr algn="l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  <a:r>
              <a:t>A fixture-related CI failure was corrected; subsequent runs passed.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56231"/>
            <a:ext cx="5266944" cy="3877056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103120"/>
            <a:ext cx="50292" cy="292608"/>
          </a:xfrm>
          <a:prstGeom prst="rect">
            <a:avLst/>
          </a:prstGeom>
          <a:solidFill>
            <a:srgbClr val="FFC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75687"/>
            <a:ext cx="467258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900" b="1">
                <a:solidFill>
                  <a:srgbClr val="EFF7FB"/>
                </a:solidFill>
                <a:latin typeface="Aptos"/>
              </a:defRPr>
            </a:pPr>
            <a:r>
              <a:t>OWASP A06: dependency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660903"/>
            <a:ext cx="4764024" cy="2962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  <a:r>
              <a:t>pip-audit scanned dependencies from requirements.txt.</a:t>
            </a:r>
          </a:p>
          <a:p>
            <a:pPr algn="l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</a:p>
          <a:p>
            <a:pPr algn="l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  <a:r>
              <a:t>Result: No known vulnerabilities found.</a:t>
            </a:r>
          </a:p>
          <a:p>
            <a:pPr algn="l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</a:p>
          <a:p>
            <a:pPr algn="l">
              <a:spcAft>
                <a:spcPts val="1200"/>
              </a:spcAft>
              <a:defRPr sz="1900" b="0">
                <a:solidFill>
                  <a:srgbClr val="9DB4C6"/>
                </a:solidFill>
                <a:latin typeface="Aptos"/>
              </a:defRPr>
            </a:pPr>
            <a:r>
              <a:t>A06 remains partially assessed.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" cy="411480"/>
          </a:xfrm>
          <a:prstGeom prst="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1148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26D7C9"/>
                </a:solidFill>
                <a:latin typeface="Aptos"/>
              </a:defRPr>
            </a:pPr>
            <a:r>
              <a:t>SECURECART  /  SECURITY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3100" b="1">
                <a:solidFill>
                  <a:srgbClr val="EFF7FB"/>
                </a:solidFill>
                <a:latin typeface="Aptos"/>
              </a:defRPr>
            </a:pPr>
            <a:r>
              <a:t>OWASP assessment: evidence and gaps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354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9DB4C6"/>
                </a:solidFill>
                <a:latin typeface="Aptos"/>
              </a:defRPr>
            </a:pPr>
            <a:r>
              <a:t>SECURECART  •  OWASP WEB &amp; API SECURITY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3737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26D7C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56231"/>
            <a:ext cx="5212080" cy="3840480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103120"/>
            <a:ext cx="50292" cy="292608"/>
          </a:xfrm>
          <a:prstGeom prst="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075687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900" b="1">
                <a:solidFill>
                  <a:srgbClr val="EFF7FB"/>
                </a:solidFill>
                <a:latin typeface="Aptos"/>
              </a:defRPr>
            </a:pPr>
            <a:r>
              <a:t>What the evidence supports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660903"/>
            <a:ext cx="47091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800" b="0">
                <a:solidFill>
                  <a:srgbClr val="9DB4C6"/>
                </a:solidFill>
                <a:latin typeface="Aptos"/>
              </a:defRPr>
            </a:pPr>
            <a:r>
              <a:t>Selected fixes mapped to OWASP Web and API categories.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9DB4C6"/>
                </a:solidFill>
                <a:latin typeface="Aptos"/>
              </a:defRPr>
            </a:pPr>
          </a:p>
          <a:p>
            <a:pPr algn="l">
              <a:spcAft>
                <a:spcPts val="1200"/>
              </a:spcAft>
              <a:defRPr sz="1800" b="0">
                <a:solidFill>
                  <a:srgbClr val="9DB4C6"/>
                </a:solidFill>
                <a:latin typeface="Aptos"/>
              </a:defRPr>
            </a:pPr>
            <a:r>
              <a:t>Targeted SQL injection check rejected a malicious product ID.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9DB4C6"/>
                </a:solidFill>
                <a:latin typeface="Aptos"/>
              </a:defRPr>
            </a:pPr>
          </a:p>
          <a:p>
            <a:pPr algn="l">
              <a:spcAft>
                <a:spcPts val="1200"/>
              </a:spcAft>
              <a:defRPr sz="1800" b="0">
                <a:solidFill>
                  <a:srgbClr val="9DB4C6"/>
                </a:solidFill>
                <a:latin typeface="Aptos"/>
              </a:defRPr>
            </a:pPr>
            <a:r>
              <a:t>27 repeatable tests passed.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56231"/>
            <a:ext cx="5266944" cy="3840480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103120"/>
            <a:ext cx="50292" cy="292608"/>
          </a:xfrm>
          <a:prstGeom prst="rect">
            <a:avLst/>
          </a:prstGeom>
          <a:solidFill>
            <a:srgbClr val="FFC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75687"/>
            <a:ext cx="467258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900" b="1">
                <a:solidFill>
                  <a:srgbClr val="EFF7FB"/>
                </a:solidFill>
                <a:latin typeface="Aptos"/>
              </a:defRPr>
            </a:pPr>
            <a:r>
              <a:t>What is not proven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660903"/>
            <a:ext cx="4764024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800" b="0">
                <a:solidFill>
                  <a:srgbClr val="9DB4C6"/>
                </a:solidFill>
                <a:latin typeface="Aptos"/>
              </a:defRPr>
            </a:pPr>
            <a:r>
              <a:t>Not every OWASP category was fully tested.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9DB4C6"/>
                </a:solidFill>
                <a:latin typeface="Aptos"/>
              </a:defRPr>
            </a:pPr>
          </a:p>
          <a:p>
            <a:pPr algn="l">
              <a:spcAft>
                <a:spcPts val="1200"/>
              </a:spcAft>
              <a:defRPr sz="1800" b="0">
                <a:solidFill>
                  <a:srgbClr val="9DB4C6"/>
                </a:solidFill>
                <a:latin typeface="Aptos"/>
              </a:defRPr>
            </a:pPr>
            <a:r>
              <a:t>API inventory, SSRF and other areas remain unassessed.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9DB4C6"/>
                </a:solidFill>
                <a:latin typeface="Aptos"/>
              </a:defRPr>
            </a:pPr>
          </a:p>
          <a:p>
            <a:pPr algn="l">
              <a:spcAft>
                <a:spcPts val="1200"/>
              </a:spcAft>
              <a:defRPr sz="1800" b="0">
                <a:solidFill>
                  <a:srgbClr val="9DB4C6"/>
                </a:solidFill>
                <a:latin typeface="Aptos"/>
              </a:defRPr>
            </a:pPr>
            <a:r>
              <a:t>Passing tests do not prove zero risk.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" cy="411480"/>
          </a:xfrm>
          <a:prstGeom prst="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1148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26D7C9"/>
                </a:solidFill>
                <a:latin typeface="Aptos"/>
              </a:defRPr>
            </a:pPr>
            <a:r>
              <a:t>SECURECART  /  SECURITY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3100" b="1">
                <a:solidFill>
                  <a:srgbClr val="EFF7FB"/>
                </a:solidFill>
                <a:latin typeface="Aptos"/>
              </a:defRPr>
            </a:pPr>
            <a:r>
              <a:t>Remaining risks &amp; next improvements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354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9DB4C6"/>
                </a:solidFill>
                <a:latin typeface="Aptos"/>
              </a:defRPr>
            </a:pPr>
            <a:r>
              <a:t>SECURECART  •  OWASP WEB &amp; API SECURITY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3737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26D7C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48256"/>
            <a:ext cx="100584" cy="100584"/>
          </a:xfrm>
          <a:prstGeom prst="round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1938528"/>
            <a:ext cx="10149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2000" b="0">
                <a:solidFill>
                  <a:srgbClr val="EFF7FB"/>
                </a:solidFill>
                <a:latin typeface="Aptos"/>
              </a:defRPr>
            </a:pPr>
            <a:r>
              <a:t>Use signed webhook payloads, timestamps and replay protection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807208"/>
            <a:ext cx="100584" cy="100584"/>
          </a:xfrm>
          <a:prstGeom prst="round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697480"/>
            <a:ext cx="10149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2000" b="0">
                <a:solidFill>
                  <a:srgbClr val="EFF7FB"/>
                </a:solidFill>
                <a:latin typeface="Aptos"/>
              </a:defRPr>
            </a:pPr>
            <a:r>
              <a:t>Expand login rate limiting and security monitoring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566160"/>
            <a:ext cx="100584" cy="100584"/>
          </a:xfrm>
          <a:prstGeom prst="round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456432"/>
            <a:ext cx="10149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2000" b="0">
                <a:solidFill>
                  <a:srgbClr val="EFF7FB"/>
                </a:solidFill>
                <a:latin typeface="Aptos"/>
              </a:defRPr>
            </a:pPr>
            <a:r>
              <a:t>Test payment/coupon concurrency and restore cancelled stock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325112"/>
            <a:ext cx="100584" cy="100584"/>
          </a:xfrm>
          <a:prstGeom prst="round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215383"/>
            <a:ext cx="10149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2000" b="0">
                <a:solidFill>
                  <a:srgbClr val="EFF7FB"/>
                </a:solidFill>
                <a:latin typeface="Aptos"/>
              </a:defRPr>
            </a:pPr>
            <a:r>
              <a:t>Broaden injection, API authorization and SSRF assessments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084064"/>
            <a:ext cx="100584" cy="100584"/>
          </a:xfrm>
          <a:prstGeom prst="round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4974336"/>
            <a:ext cx="10149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2000" b="0">
                <a:solidFill>
                  <a:srgbClr val="EFF7FB"/>
                </a:solidFill>
                <a:latin typeface="Aptos"/>
              </a:defRPr>
            </a:pPr>
            <a:r>
              <a:t>Review production configuration and automate dependency scans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" cy="411480"/>
          </a:xfrm>
          <a:prstGeom prst="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1148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26D7C9"/>
                </a:solidFill>
                <a:latin typeface="Aptos"/>
              </a:defRPr>
            </a:pPr>
            <a:r>
              <a:t>SECURECART  /  SECURITY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3100" b="1">
                <a:solidFill>
                  <a:srgbClr val="EFF7FB"/>
                </a:solidFill>
                <a:latin typeface="Aptos"/>
              </a:defRPr>
            </a:pPr>
            <a:r>
              <a:t>Conclusion &amp; demonstration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354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9DB4C6"/>
                </a:solidFill>
                <a:latin typeface="Aptos"/>
              </a:defRPr>
            </a:pPr>
            <a:r>
              <a:t>SECURECART  •  OWASP WEB &amp; API SECURITY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3737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26D7C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847088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2700" b="1">
                <a:solidFill>
                  <a:srgbClr val="EFF7FB"/>
                </a:solidFill>
                <a:latin typeface="Aptos"/>
              </a:defRPr>
            </a:pPr>
            <a:r>
              <a:t>SecureCart demonstrates a complete</a:t>
            </a:r>
          </a:p>
          <a:p>
            <a:pPr algn="l">
              <a:spcAft>
                <a:spcPts val="1200"/>
              </a:spcAft>
              <a:defRPr sz="2700" b="1">
                <a:solidFill>
                  <a:srgbClr val="EFF7FB"/>
                </a:solidFill>
                <a:latin typeface="Aptos"/>
              </a:defRPr>
            </a:pPr>
            <a:r>
              <a:t>find → fix → test → document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67328"/>
            <a:ext cx="6583680" cy="1783080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4014216"/>
            <a:ext cx="50292" cy="292608"/>
          </a:xfrm>
          <a:prstGeom prst="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3986784"/>
            <a:ext cx="5989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900" b="1">
                <a:solidFill>
                  <a:srgbClr val="EFF7FB"/>
                </a:solidFill>
                <a:latin typeface="Aptos"/>
              </a:defRPr>
            </a:pPr>
            <a:r>
              <a:t>Key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4572000"/>
            <a:ext cx="60807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2100" b="0">
                <a:solidFill>
                  <a:srgbClr val="9DB4C6"/>
                </a:solidFill>
                <a:latin typeface="Aptos"/>
              </a:defRPr>
            </a:pPr>
            <a:r>
              <a:t>8 remediated findings  •  27 passing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71231" y="3767328"/>
            <a:ext cx="3886200" cy="1783080"/>
          </a:xfrm>
          <a:prstGeom prst="roundRect">
            <a:avLst/>
          </a:prstGeom>
          <a:solidFill>
            <a:srgbClr val="14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54111" y="4014216"/>
            <a:ext cx="50292" cy="292608"/>
          </a:xfrm>
          <a:prstGeom prst="rect">
            <a:avLst/>
          </a:prstGeom>
          <a:solidFill>
            <a:srgbClr val="26D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18704" y="3986784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900" b="1">
                <a:solidFill>
                  <a:srgbClr val="EFF7FB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7263" y="4572000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800" b="0">
                <a:solidFill>
                  <a:srgbClr val="9DB4C6"/>
                </a:solidFill>
                <a:latin typeface="Aptos"/>
              </a:defRPr>
            </a:pPr>
            <a:r>
              <a:t>Login → order → test → 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5907024"/>
            <a:ext cx="104241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26D7C9"/>
                </a:solidFill>
                <a:latin typeface="Aptos"/>
              </a:defRPr>
            </a:pPr>
            <a: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